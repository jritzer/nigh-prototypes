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U.S. In-Person Consumer Spending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Addressable Market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29868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0515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In-Store Retail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46320" y="10515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$6T+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719072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897380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17190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Restaurants &amp; Dining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71907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$1.1T+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386584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564892"/>
            <a:ext cx="146304" cy="14630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238658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Entertainment &amp; Nightlife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38658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$300B+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054096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232404"/>
            <a:ext cx="146304" cy="14630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" y="305409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Recreation &amp; Attractions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05409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$150B+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21608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D946EF">
              <a:alpha val="12000"/>
            </a:srgbClr>
          </a:solidFill>
          <a:ln w="12700">
            <a:solidFill>
              <a:srgbClr val="D946E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3899916"/>
            <a:ext cx="146304" cy="146304"/>
          </a:xfrm>
          <a:prstGeom prst="ellipse">
            <a:avLst/>
          </a:prstGeom>
          <a:solidFill>
            <a:srgbClr val="D946EF"/>
          </a:solidFill>
          <a:ln/>
        </p:spPr>
      </p:sp>
      <p:sp>
        <p:nvSpPr>
          <p:cNvPr id="22" name="Text 20"/>
          <p:cNvSpPr/>
          <p:nvPr/>
        </p:nvSpPr>
        <p:spPr>
          <a:xfrm>
            <a:off x="932688" y="372160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Fitness, Wellness &amp; Personal Care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372160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4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$150B+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766560" y="1097280"/>
            <a:ext cx="2377440" cy="237744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25" name="Shape 23"/>
          <p:cNvSpPr/>
          <p:nvPr/>
        </p:nvSpPr>
        <p:spPr>
          <a:xfrm>
            <a:off x="6876288" y="1207008"/>
            <a:ext cx="2157984" cy="2157984"/>
          </a:xfrm>
          <a:prstGeom prst="ellipse">
            <a:avLst/>
          </a:prstGeom>
          <a:solidFill>
            <a:srgbClr val="1A1A2E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16916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$8T+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6766560" y="2331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In-Person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Spend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434840"/>
            <a:ext cx="1315430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Shape 27"/>
          <p:cNvSpPr/>
          <p:nvPr/>
        </p:nvSpPr>
        <p:spPr>
          <a:xfrm>
            <a:off x="1306286" y="4434840"/>
            <a:ext cx="1315430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0" name="Shape 28"/>
          <p:cNvSpPr/>
          <p:nvPr/>
        </p:nvSpPr>
        <p:spPr>
          <a:xfrm>
            <a:off x="2612571" y="4434840"/>
            <a:ext cx="1315430" cy="10972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1" name="Shape 29"/>
          <p:cNvSpPr/>
          <p:nvPr/>
        </p:nvSpPr>
        <p:spPr>
          <a:xfrm>
            <a:off x="3918857" y="4434840"/>
            <a:ext cx="1315430" cy="10972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2" name="Shape 30"/>
          <p:cNvSpPr/>
          <p:nvPr/>
        </p:nvSpPr>
        <p:spPr>
          <a:xfrm>
            <a:off x="5225143" y="4434840"/>
            <a:ext cx="1315430" cy="109728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33" name="Shape 31"/>
          <p:cNvSpPr/>
          <p:nvPr/>
        </p:nvSpPr>
        <p:spPr>
          <a:xfrm>
            <a:off x="6531429" y="4434840"/>
            <a:ext cx="1315430" cy="109728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4" name="Shape 32"/>
          <p:cNvSpPr/>
          <p:nvPr/>
        </p:nvSpPr>
        <p:spPr>
          <a:xfrm>
            <a:off x="7837714" y="4434840"/>
            <a:ext cx="1315430" cy="109728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U.S. Census Bureau Quarterly E-Commerce Report (2024); National Restaurant Association (2025); IBISWorld (2024); IHRSA; BEA/FRED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TAM Slide</dc:title>
  <dc:subject>PptxGenJS Presentation</dc:subject>
  <dc:creator>Nigh</dc:creator>
  <cp:lastModifiedBy>Nigh</cp:lastModifiedBy>
  <cp:revision>1</cp:revision>
  <dcterms:created xsi:type="dcterms:W3CDTF">2026-06-11T17:14:03Z</dcterms:created>
  <dcterms:modified xsi:type="dcterms:W3CDTF">2026-06-11T17:14:03Z</dcterms:modified>
</cp:coreProperties>
</file>